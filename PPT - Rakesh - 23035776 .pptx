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84" r:id="rId1"/>
  </p:sldMasterIdLst>
  <p:sldIdLst>
    <p:sldId id="256" r:id="rId2"/>
    <p:sldId id="269" r:id="rId3"/>
    <p:sldId id="270" r:id="rId4"/>
    <p:sldId id="271" r:id="rId5"/>
    <p:sldId id="272" r:id="rId6"/>
    <p:sldId id="261" r:id="rId7"/>
    <p:sldId id="273" r:id="rId8"/>
    <p:sldId id="274" r:id="rId9"/>
    <p:sldId id="275" r:id="rId10"/>
    <p:sldId id="276" r:id="rId11"/>
    <p:sldId id="265" r:id="rId12"/>
    <p:sldId id="277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72"/>
  </p:normalViewPr>
  <p:slideViewPr>
    <p:cSldViewPr snapToGrid="0">
      <p:cViewPr varScale="1">
        <p:scale>
          <a:sx n="112" d="100"/>
          <a:sy n="112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3790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896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49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271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674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53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960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A54C80-263E-416B-A8E0-580EDEADCBDC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868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56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352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814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05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yasserh/wine-quality-datase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science/article/pii/S221242922301005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A25C1-9C3A-2CAC-9077-CE4FC1EDA5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428" y="1558986"/>
            <a:ext cx="10031144" cy="1264117"/>
          </a:xfrm>
        </p:spPr>
        <p:txBody>
          <a:bodyPr>
            <a:noAutofit/>
          </a:bodyPr>
          <a:lstStyle/>
          <a:p>
            <a:pPr algn="ctr"/>
            <a:r>
              <a:rPr lang="en-US" sz="4500" b="1" dirty="0">
                <a:latin typeface="Calibri" panose="020F0502020204030204" pitchFamily="34" charset="0"/>
                <a:cs typeface="Calibri" panose="020F0502020204030204" pitchFamily="34" charset="0"/>
              </a:rPr>
              <a:t>Data Visualization and Analysis of</a:t>
            </a:r>
            <a:br>
              <a:rPr lang="en-US" sz="45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500" b="1" dirty="0">
                <a:latin typeface="Calibri" panose="020F0502020204030204" pitchFamily="34" charset="0"/>
                <a:cs typeface="Calibri" panose="020F0502020204030204" pitchFamily="34" charset="0"/>
              </a:rPr>
              <a:t>Wine Quality Factors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9F380C-2546-C513-D090-060EA8F0D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2545" y="3189523"/>
            <a:ext cx="9566910" cy="2178071"/>
          </a:xfrm>
        </p:spPr>
        <p:txBody>
          <a:bodyPr>
            <a:noAutofit/>
          </a:bodyPr>
          <a:lstStyle/>
          <a:p>
            <a:pPr algn="l"/>
            <a:r>
              <a:rPr lang="en-US" sz="2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Student: </a:t>
            </a:r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Rakesh Kancharla</a:t>
            </a:r>
            <a:b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Supervisor: </a:t>
            </a:r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John Evans</a:t>
            </a:r>
            <a:b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500" b="1" dirty="0">
                <a:latin typeface="Calibri" panose="020F0502020204030204" pitchFamily="34" charset="0"/>
                <a:cs typeface="Calibri" panose="020F0502020204030204" pitchFamily="34" charset="0"/>
              </a:rPr>
              <a:t>University of Hertfordshire</a:t>
            </a:r>
            <a:b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en-US" sz="2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 </a:t>
            </a:r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Kaggle Wine Quality Dataset</a:t>
            </a:r>
            <a:b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Source: </a:t>
            </a:r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https://www.kaggle.com/datasets/yasserh/wine-quality-dataset</a:t>
            </a:r>
            <a:endParaRPr lang="en-US" sz="2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8E017D-4E61-A3E1-C1B8-728E337A6FFF}"/>
              </a:ext>
            </a:extLst>
          </p:cNvPr>
          <p:cNvSpPr txBox="1"/>
          <p:nvPr/>
        </p:nvSpPr>
        <p:spPr>
          <a:xfrm>
            <a:off x="323556" y="6119446"/>
            <a:ext cx="655554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Calibri" panose="020F0502020204030204" pitchFamily="34" charset="0"/>
                <a:cs typeface="Calibri" panose="020F0502020204030204" pitchFamily="34" charset="0"/>
              </a:rPr>
              <a:t>Github Link :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511771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05724-6486-5C6C-50DC-2DED3A0CB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674370"/>
            <a:ext cx="9601200" cy="742950"/>
          </a:xfrm>
        </p:spPr>
        <p:txBody>
          <a:bodyPr/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C31A4-B6E2-9534-F2DA-46EA9E4BB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560" y="1417320"/>
            <a:ext cx="10652760" cy="5029200"/>
          </a:xfrm>
        </p:spPr>
        <p:txBody>
          <a:bodyPr/>
          <a:lstStyle/>
          <a:p>
            <a:pPr marL="0" indent="0" algn="ctr">
              <a:buNone/>
            </a:pPr>
            <a:endParaRPr lang="en-US" sz="15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How do variations in wine physicochemical properties influence overall wine quality, and which features are most important for predicting wine quality using Machine Learning?</a:t>
            </a:r>
          </a:p>
          <a:p>
            <a:pPr marL="0" indent="0" algn="ctr">
              <a:buNone/>
            </a:pP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Aim</a:t>
            </a: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To understand which chemical attributes most strongly affect wine quality and evaluate the performance of ML models.</a:t>
            </a:r>
          </a:p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  <a:p>
            <a:pPr>
              <a:buFont typeface="Wingdings" pitchFamily="2" charset="2"/>
              <a:buChar char="§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Conduct exploratory data analysis to understand patterns in wine chemistry.</a:t>
            </a:r>
          </a:p>
          <a:p>
            <a:pPr>
              <a:buFont typeface="Wingdings" pitchFamily="2" charset="2"/>
              <a:buChar char="§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Preprocess and prepare dataset for classification.</a:t>
            </a:r>
          </a:p>
          <a:p>
            <a:pPr>
              <a:buFont typeface="Wingdings" pitchFamily="2" charset="2"/>
              <a:buChar char="§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Build a Random Forest model to classify quality into three categories.</a:t>
            </a:r>
          </a:p>
          <a:p>
            <a:pPr>
              <a:buFont typeface="Wingdings" pitchFamily="2" charset="2"/>
              <a:buChar char="§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Compare its performance with alternative models (Logistic Regression &amp; Gradient Boosting ).</a:t>
            </a:r>
          </a:p>
          <a:p>
            <a:pPr>
              <a:buFont typeface="Wingdings" pitchFamily="2" charset="2"/>
              <a:buChar char="§"/>
            </a:pPr>
            <a:r>
              <a:rPr lang="en-US" sz="1500" dirty="0" err="1">
                <a:latin typeface="Calibri" panose="020F0502020204030204" pitchFamily="34" charset="0"/>
                <a:cs typeface="Calibri" panose="020F0502020204030204" pitchFamily="34" charset="0"/>
              </a:rPr>
              <a:t>Analyse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 feature importance and interpret the predictive relationships.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960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97F5D1-E3CC-A654-0D9F-62969DBB8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22F25-83F8-F309-4ECB-3C284AD41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674370"/>
            <a:ext cx="9601200" cy="742950"/>
          </a:xfrm>
        </p:spPr>
        <p:txBody>
          <a:bodyPr/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Background and 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FF05C-3137-058A-27CC-D5E02545F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560" y="1417320"/>
            <a:ext cx="10652760" cy="50292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endParaRPr lang="en-US" sz="15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900" b="1" dirty="0">
                <a:latin typeface="Calibri" panose="020F0502020204030204" pitchFamily="34" charset="0"/>
                <a:cs typeface="Calibri" panose="020F0502020204030204" pitchFamily="34" charset="0"/>
              </a:rPr>
              <a:t>Context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Wine quality prediction has been extensively explored using data visualization and machine learning techniques. Previous studies provide foundational insights into chemical determinants of wine quality.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Cortez et al. (2009)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– First major study on this dataset; showed alcohol, volatile acidity, and sulphates are critical; used several ML models including SVM.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Zhang et al. (2020)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– Demonstrated that alcohol significantly increases perceived quality, while volatile acidity decreases it.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Dahal et al. (2021)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– Compared algorithms; Gradient Boosting performed best; emphasized the dataset’s imbalance problem.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Harris et al. (2023)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– Achieved extremely high accuracy using sensor-enhanced feature sets.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Kumar et al. (2020)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– Found Random Forest performs strongly because it captures nonlinear chemical interactions.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What My Study Does?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Replicates and validates core findings using EDA.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Focuses on Random Forest for interpretability and stability.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Expands work by comparing multiple models and tuning hyperparameters.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Targets practical ML insights for wine industry decision support.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917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A7EF57-637E-D325-882F-901032734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EA30C-A343-9D5C-42A3-D686426C3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11480"/>
            <a:ext cx="9601200" cy="742950"/>
          </a:xfrm>
        </p:spPr>
        <p:txBody>
          <a:bodyPr/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C901E-7D15-D443-F12C-49CA94326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560" y="1276643"/>
            <a:ext cx="10652760" cy="50292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100" b="1" dirty="0">
                <a:latin typeface="Calibri" panose="020F0502020204030204" pitchFamily="34" charset="0"/>
                <a:cs typeface="Calibri" panose="020F0502020204030204" pitchFamily="34" charset="0"/>
              </a:rPr>
              <a:t>Dataset Description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Total samples: 1,143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Variables: 11 physicochemical features + 1 quality label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Wine type: Portuguese Vinho Verde (combined dataset variant)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Format: Laboratory-measured chemical attributes</a:t>
            </a:r>
          </a:p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Input Features Include: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fixed acidity, volatile acidity, citric acid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residual sugar, chlorides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free &amp; total sulfur dioxide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density, pH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sulphates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alcohol</a:t>
            </a:r>
          </a:p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Output Variable:</a:t>
            </a:r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Quality (0–10 score) -&gt; later grouped into Low, Medium, High</a:t>
            </a:r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Dataset Source: Kaggle https://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www.kaggle.com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/datasets/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yasserh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/wine-quality-dataset/data</a:t>
            </a:r>
          </a:p>
        </p:txBody>
      </p:sp>
      <p:pic>
        <p:nvPicPr>
          <p:cNvPr id="5" name="Picture 4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5D7718EA-FE8B-3122-84B5-837CDF980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090" y="3192487"/>
            <a:ext cx="6615350" cy="183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368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214C6F-34C8-D041-EC0F-87BBA67E3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4CA7A-B882-3955-E8FA-2D76708CB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11480"/>
            <a:ext cx="9601200" cy="742950"/>
          </a:xfrm>
        </p:spPr>
        <p:txBody>
          <a:bodyPr/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Ethical Considerations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74733A5-F44B-79F0-9B8E-6777CFB5A1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51560" y="1712056"/>
            <a:ext cx="10581787" cy="2914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Data Source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Public Kaggle dataset under open license - freely available for research use</a:t>
            </a:r>
            <a:endParaRPr kumimoji="0" lang="en-US" altLang="en-US" sz="22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altLang="en-US" sz="22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 personal or identifiable data</a:t>
            </a:r>
            <a:r>
              <a:rPr kumimoji="0" lang="en-US" altLang="en-US" sz="22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Only chemical measurements.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altLang="en-US" sz="22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Open license (UCI repository) </a:t>
            </a:r>
            <a:r>
              <a:rPr kumimoji="0" lang="en-US" altLang="en-US" sz="22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allows academic use.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altLang="en-US" sz="22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Anonymized data </a:t>
            </a:r>
            <a:r>
              <a:rPr kumimoji="0" lang="en-US" altLang="en-US" sz="22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wines are not linked to producers or batches.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altLang="en-US" sz="22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 consent issues</a:t>
            </a:r>
            <a:r>
              <a:rPr kumimoji="0" lang="en-US" altLang="en-US" sz="22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as dataset contains purely lab readings.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altLang="en-US" sz="22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Stored securely </a:t>
            </a:r>
            <a:r>
              <a:rPr kumimoji="0" lang="en-US" altLang="en-US" sz="22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 local encrypted folders.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altLang="en-US" sz="22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Clear research </a:t>
            </a:r>
            <a:r>
              <a:rPr kumimoji="0" lang="en-US" altLang="en-US" sz="22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purpose with no commercial implications.</a:t>
            </a:r>
          </a:p>
          <a:p>
            <a:pPr marL="0" indent="0">
              <a:buNone/>
            </a:pPr>
            <a:endParaRPr kumimoji="0" lang="en-US" altLang="en-US" sz="22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672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882ED-A004-B254-A20F-9A3189B2F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217170"/>
            <a:ext cx="8596668" cy="590550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Exploratory Data Analysis (EDA)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BDE63-DF18-BCFC-CDD9-06B908D5E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597" y="834391"/>
            <a:ext cx="11021743" cy="60236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Purpose of EDA</a:t>
            </a:r>
          </a:p>
          <a:p>
            <a:pPr>
              <a:buFont typeface="Wingdings" pitchFamily="2" charset="2"/>
              <a:buChar char="§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Understand distribution of chemical attributes</a:t>
            </a:r>
          </a:p>
          <a:p>
            <a:pPr>
              <a:buFont typeface="Wingdings" pitchFamily="2" charset="2"/>
              <a:buChar char="§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Identify patterns &amp; relationships</a:t>
            </a:r>
          </a:p>
          <a:p>
            <a:pPr>
              <a:buFont typeface="Wingdings" pitchFamily="2" charset="2"/>
              <a:buChar char="§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Detect outliers that may affect modelling</a:t>
            </a:r>
          </a:p>
          <a:p>
            <a:pPr>
              <a:buFont typeface="Wingdings" pitchFamily="2" charset="2"/>
              <a:buChar char="§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Reveal correlations that may influence quality</a:t>
            </a:r>
          </a:p>
          <a:p>
            <a:pPr>
              <a:buFont typeface="Wingdings" pitchFamily="2" charset="2"/>
              <a:buChar char="§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Assess class imbalance before modelling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6DDF26-3FCB-140E-44CC-1F6E0B5D61D6}"/>
              </a:ext>
            </a:extLst>
          </p:cNvPr>
          <p:cNvSpPr/>
          <p:nvPr/>
        </p:nvSpPr>
        <p:spPr>
          <a:xfrm>
            <a:off x="6353468" y="2617470"/>
            <a:ext cx="5246370" cy="4023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US" sz="15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Univariate Analysis Results</a:t>
            </a:r>
          </a:p>
          <a:p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Alcohol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Distribution is right-skewed.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Higher alcohol levels appear more frequently in medium and high-quality wines.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Indicates alcohol contributes positively to </a:t>
            </a:r>
            <a:r>
              <a:rPr lang="en-US" sz="1500" dirty="0" err="1">
                <a:latin typeface="Calibri" panose="020F0502020204030204" pitchFamily="34" charset="0"/>
                <a:cs typeface="Calibri" panose="020F0502020204030204" pitchFamily="34" charset="0"/>
              </a:rPr>
              <a:t>flavour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 balance and perceived quality.</a:t>
            </a:r>
          </a:p>
          <a:p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Volatile Acidity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Mostly low values; distribution left-skewed.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Higher volatile acidity is associated with undesirable vinegar-like aroma.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Strong negative link to wine quality.</a:t>
            </a:r>
          </a:p>
          <a:p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Sulphates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Moderate right skew.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Acts as an antimicrobial/preservation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Moderate improvement in wine stability and therefore quality.</a:t>
            </a:r>
          </a:p>
          <a:p>
            <a:pPr algn="ctr"/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5595D5-47F8-7912-D026-44254FF3E57C}"/>
              </a:ext>
            </a:extLst>
          </p:cNvPr>
          <p:cNvSpPr/>
          <p:nvPr/>
        </p:nvSpPr>
        <p:spPr>
          <a:xfrm>
            <a:off x="842597" y="3120390"/>
            <a:ext cx="4906693" cy="3006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Multivariate Analysis</a:t>
            </a:r>
          </a:p>
          <a:p>
            <a:pPr algn="ctr">
              <a:lnSpc>
                <a:spcPct val="90000"/>
              </a:lnSpc>
            </a:pPr>
            <a:endParaRPr lang="en-US" sz="15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Correlation Heatmap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Alcohol has strongest positive correlation with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Volatile acidity has strongest negative correlation.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Sulphates and citric acid moderately positive.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Free sulfur dioxide, density, pH show weak relationships.</a:t>
            </a:r>
          </a:p>
          <a:p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Scatterplots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Alcohol vs Quality: upward trend; higher quality linked with higher alcohol.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Volatile Acidity vs Quality: downward trend; high acidity reduces quality.</a:t>
            </a:r>
          </a:p>
          <a:p>
            <a:pPr algn="ctr"/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ACE7D2C6-A5B1-6103-DC11-4341463E6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807720"/>
            <a:ext cx="2622551" cy="173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BE3F748C-6B19-8B9F-29D1-4902987E4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6346" y="765809"/>
            <a:ext cx="2760882" cy="182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EF1F5E-47A0-87DD-25B2-244D3FDD9326}"/>
              </a:ext>
            </a:extLst>
          </p:cNvPr>
          <p:cNvSpPr txBox="1"/>
          <p:nvPr/>
        </p:nvSpPr>
        <p:spPr>
          <a:xfrm rot="16200000">
            <a:off x="5079072" y="1512913"/>
            <a:ext cx="17335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Scatterplot alcohol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23827C-CA8C-7F7E-3584-33D27800BF6C}"/>
              </a:ext>
            </a:extLst>
          </p:cNvPr>
          <p:cNvSpPr txBox="1"/>
          <p:nvPr/>
        </p:nvSpPr>
        <p:spPr>
          <a:xfrm rot="16200000">
            <a:off x="8125153" y="1498177"/>
            <a:ext cx="18853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Scatterplot Volatile Acidity</a:t>
            </a:r>
          </a:p>
        </p:txBody>
      </p:sp>
    </p:spTree>
    <p:extLst>
      <p:ext uri="{BB962C8B-B14F-4D97-AF65-F5344CB8AC3E}">
        <p14:creationId xmlns:p14="http://schemas.microsoft.com/office/powerpoint/2010/main" val="1797798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1E3E87-A600-A177-58C2-DBA233D38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B927F-5E02-59E7-888E-060434CB5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167055"/>
            <a:ext cx="8596668" cy="590550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Exploratory Data Analysis (EDA)</a:t>
            </a:r>
            <a:endParaRPr lang="en-US" dirty="0"/>
          </a:p>
        </p:txBody>
      </p:sp>
      <p:pic>
        <p:nvPicPr>
          <p:cNvPr id="8195" name="Picture 3">
            <a:extLst>
              <a:ext uri="{FF2B5EF4-FFF2-40B4-BE49-F238E27FC236}">
                <a16:creationId xmlns:a16="http://schemas.microsoft.com/office/drawing/2014/main" id="{566166FE-8847-9EFA-3218-E7EA4F0532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42" y="912349"/>
            <a:ext cx="3565378" cy="2354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7" name="Picture 5">
            <a:extLst>
              <a:ext uri="{FF2B5EF4-FFF2-40B4-BE49-F238E27FC236}">
                <a16:creationId xmlns:a16="http://schemas.microsoft.com/office/drawing/2014/main" id="{2F10E2CB-FBCE-59AA-76A5-37A95BDFD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120" y="912349"/>
            <a:ext cx="3561928" cy="2354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9" name="Picture 7">
            <a:extLst>
              <a:ext uri="{FF2B5EF4-FFF2-40B4-BE49-F238E27FC236}">
                <a16:creationId xmlns:a16="http://schemas.microsoft.com/office/drawing/2014/main" id="{DBDD5F00-DF9E-35F1-949F-C826B5575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922" y="841886"/>
            <a:ext cx="3775965" cy="2495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64F816-BD64-D887-D51A-BD2ED59CFAD4}"/>
              </a:ext>
            </a:extLst>
          </p:cNvPr>
          <p:cNvSpPr txBox="1"/>
          <p:nvPr/>
        </p:nvSpPr>
        <p:spPr>
          <a:xfrm>
            <a:off x="2349304" y="3221825"/>
            <a:ext cx="901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Alcohol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D5FEDC-5CF2-FD32-E5F4-1DB5C79D181B}"/>
              </a:ext>
            </a:extLst>
          </p:cNvPr>
          <p:cNvSpPr txBox="1"/>
          <p:nvPr/>
        </p:nvSpPr>
        <p:spPr>
          <a:xfrm>
            <a:off x="5726693" y="3266844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Volatile Acidity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AB6EB0-78B3-D3B1-6A68-D1FCECF7FD14}"/>
              </a:ext>
            </a:extLst>
          </p:cNvPr>
          <p:cNvSpPr txBox="1"/>
          <p:nvPr/>
        </p:nvSpPr>
        <p:spPr>
          <a:xfrm>
            <a:off x="9732011" y="3266844"/>
            <a:ext cx="115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Sulphates</a:t>
            </a:r>
          </a:p>
        </p:txBody>
      </p:sp>
      <p:pic>
        <p:nvPicPr>
          <p:cNvPr id="8201" name="Picture 9">
            <a:extLst>
              <a:ext uri="{FF2B5EF4-FFF2-40B4-BE49-F238E27FC236}">
                <a16:creationId xmlns:a16="http://schemas.microsoft.com/office/drawing/2014/main" id="{28519382-3626-DA30-57F4-2B01F2B53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42" y="3698277"/>
            <a:ext cx="6111895" cy="2594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3" name="Picture 11">
            <a:extLst>
              <a:ext uri="{FF2B5EF4-FFF2-40B4-BE49-F238E27FC236}">
                <a16:creationId xmlns:a16="http://schemas.microsoft.com/office/drawing/2014/main" id="{762F62EE-3A54-2312-595A-18B784C4D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7227" y="3663386"/>
            <a:ext cx="3629567" cy="302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EB2E571-2A70-0649-4E7C-77557A7EA81D}"/>
              </a:ext>
            </a:extLst>
          </p:cNvPr>
          <p:cNvSpPr txBox="1"/>
          <p:nvPr/>
        </p:nvSpPr>
        <p:spPr>
          <a:xfrm>
            <a:off x="3487463" y="6349006"/>
            <a:ext cx="2492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Boxplots for all Features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45BBA1-703D-9049-5ACD-FDDEB417E083}"/>
              </a:ext>
            </a:extLst>
          </p:cNvPr>
          <p:cNvSpPr txBox="1"/>
          <p:nvPr/>
        </p:nvSpPr>
        <p:spPr>
          <a:xfrm rot="16200000">
            <a:off x="6576828" y="4952249"/>
            <a:ext cx="2311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Correlation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Heatmapn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992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F4149D-8245-106F-7418-6F0F7747D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B572E-E8E4-C25B-45D7-CDE226F7C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617221"/>
            <a:ext cx="8596668" cy="590550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Dataset Pre-processing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2904B-FD3B-614C-A192-E1FC6396F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597" y="1314451"/>
            <a:ext cx="11021743" cy="50977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Quality Converted to 3 Classes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This helps simplify classification: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0–5 → Low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6 → Medium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7–10 → High</a:t>
            </a:r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This transformation handles imbalanced quality scores and creates meaningful groups.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Feature Scaling</a:t>
            </a:r>
          </a:p>
          <a:p>
            <a:pPr marL="0" indent="0">
              <a:buNone/>
            </a:pP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StandardScaler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used to bring all features to similar ranges important for Logistic Regression and Gradient Boosting.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Train–Test Split</a:t>
            </a:r>
          </a:p>
          <a:p>
            <a:r>
              <a:rPr lang="en-US" sz="1600" dirty="0"/>
              <a:t>Split into training (80%) and testing sets (20%) with stratified sampling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Ensures unbiased evaluation of model performance.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676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75CF6D-6778-47DA-0C50-4078C60DE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14EBB-FB6C-9F2B-D711-D6089C83D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445769"/>
            <a:ext cx="8596668" cy="590550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Model Used: 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0841-6456-784F-9F4C-FA94926D3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597" y="1314451"/>
            <a:ext cx="11021743" cy="50977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Why Random Forest?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Handles non-linear data patterns effectively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Resistant to overfitting (ensemble of trees)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Strong performance on tabular datasets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Provides feature importance ranking</a:t>
            </a:r>
          </a:p>
          <a:p>
            <a:r>
              <a:rPr lang="en-US" altLang="en-U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Automatically estimates feature importance.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Literature Support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Previously shown effective for wine quality prediction: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Kumar et al. (2020) - Effective for red wine classification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Strong baseline for tabular data analysis</a:t>
            </a:r>
          </a:p>
          <a:p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Random Forest was chosen for its balance of predictive power and interpretability </a:t>
            </a:r>
          </a:p>
        </p:txBody>
      </p:sp>
      <p:pic>
        <p:nvPicPr>
          <p:cNvPr id="7172" name="Picture 4" descr="Random-forest-algorithm.webp">
            <a:extLst>
              <a:ext uri="{FF2B5EF4-FFF2-40B4-BE49-F238E27FC236}">
                <a16:creationId xmlns:a16="http://schemas.microsoft.com/office/drawing/2014/main" id="{1B56F6EE-BCB3-46F4-21D5-1674B0E8D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437" y="1314451"/>
            <a:ext cx="5711484" cy="2855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400FFC-8D2A-31C5-8AC7-6567124E6A78}"/>
              </a:ext>
            </a:extLst>
          </p:cNvPr>
          <p:cNvSpPr txBox="1"/>
          <p:nvPr/>
        </p:nvSpPr>
        <p:spPr>
          <a:xfrm>
            <a:off x="6096000" y="4360985"/>
            <a:ext cx="54805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latin typeface="Calibri" panose="020F0502020204030204" pitchFamily="34" charset="0"/>
                <a:cs typeface="Calibri" panose="020F0502020204030204" pitchFamily="34" charset="0"/>
              </a:rPr>
              <a:t>Random Forest Ensemble Diagram Source : geeksforgeeks.org</a:t>
            </a:r>
          </a:p>
        </p:txBody>
      </p:sp>
    </p:spTree>
    <p:extLst>
      <p:ext uri="{BB962C8B-B14F-4D97-AF65-F5344CB8AC3E}">
        <p14:creationId xmlns:p14="http://schemas.microsoft.com/office/powerpoint/2010/main" val="282900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16F5CB-E1C8-2A3D-94CD-BDFAAFDB7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3C91D-2340-4188-0D16-8C1635ADA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206034"/>
            <a:ext cx="8596668" cy="590550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Model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89F20-A3B2-D119-2478-34B4A734B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597" y="880110"/>
            <a:ext cx="11021743" cy="58301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Interpretation</a:t>
            </a:r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The model correctly classifies most medium-quality wines (largest class).</a:t>
            </a:r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Some misclassification occurs between Low and Medium classes due to overlapping feature ranges.</a:t>
            </a:r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Accuracy typically around 70–80%, depending on tuning.</a:t>
            </a:r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F1-score gives balanced view of performance across three classes.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Why These Results Occur</a:t>
            </a:r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Imbalance affects high-quality predictions.</a:t>
            </a:r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Chemical features sometimes overlap, making classes less separable.</a:t>
            </a:r>
          </a:p>
          <a:p>
            <a:pPr marL="0" indent="0">
              <a:buNone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400A1E14-4CB0-B945-2832-F56820B60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2166" y="1988527"/>
            <a:ext cx="3763060" cy="2391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4C02C6-C697-4D75-EF48-9D53E79EC301}"/>
              </a:ext>
            </a:extLst>
          </p:cNvPr>
          <p:cNvSpPr txBox="1"/>
          <p:nvPr/>
        </p:nvSpPr>
        <p:spPr>
          <a:xfrm>
            <a:off x="8669002" y="4376879"/>
            <a:ext cx="2823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Confusion Matrix &amp; Metrics</a:t>
            </a: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A956EF43-3780-A06E-3E04-7D8781F67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97" y="4376879"/>
            <a:ext cx="3529917" cy="2333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5B2CD9-A598-D57E-32AE-C374F9E1BA77}"/>
              </a:ext>
            </a:extLst>
          </p:cNvPr>
          <p:cNvSpPr txBox="1"/>
          <p:nvPr/>
        </p:nvSpPr>
        <p:spPr>
          <a:xfrm rot="16200000">
            <a:off x="3518258" y="5374518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Model Comparison</a:t>
            </a:r>
          </a:p>
        </p:txBody>
      </p:sp>
      <p:pic>
        <p:nvPicPr>
          <p:cNvPr id="11270" name="Picture 6">
            <a:extLst>
              <a:ext uri="{FF2B5EF4-FFF2-40B4-BE49-F238E27FC236}">
                <a16:creationId xmlns:a16="http://schemas.microsoft.com/office/drawing/2014/main" id="{FAD9A571-1914-A6FF-6193-103D5EF9C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828" y="4227172"/>
            <a:ext cx="3763060" cy="233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BD3AC44-6D1E-5547-60A0-E5A09239F485}"/>
              </a:ext>
            </a:extLst>
          </p:cNvPr>
          <p:cNvSpPr txBox="1"/>
          <p:nvPr/>
        </p:nvSpPr>
        <p:spPr>
          <a:xfrm>
            <a:off x="8574420" y="4935936"/>
            <a:ext cx="3318665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Random Forest - Baseline Performance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Accuracy: 0.716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Precision (macro): 0.735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Recall (macro): 0.687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F1 (macro): 0.706</a:t>
            </a:r>
            <a:endParaRPr lang="en-US" altLang="en-US" sz="15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662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1B25C-C256-772F-6686-4CDF3B8D8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236" y="237970"/>
            <a:ext cx="10956974" cy="83058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Hyperparameter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B13B7-4892-847D-61C9-A35FF0FA6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235" y="982980"/>
            <a:ext cx="10956975" cy="5875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Method Approach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: Used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GridSearchCV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 with 5-fold cross-validation.</a:t>
            </a:r>
          </a:p>
          <a:p>
            <a:pPr marL="0" indent="0">
              <a:buNone/>
            </a:pP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“ </a:t>
            </a:r>
            <a:r>
              <a:rPr lang="en-US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GridSearchCV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500" dirty="0" err="1">
                <a:latin typeface="Calibri" panose="020F0502020204030204" pitchFamily="34" charset="0"/>
                <a:cs typeface="Calibri" panose="020F0502020204030204" pitchFamily="34" charset="0"/>
              </a:rPr>
              <a:t>GridSearchCV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 is also known as </a:t>
            </a:r>
            <a:r>
              <a:rPr lang="en-US" sz="1500" dirty="0" err="1">
                <a:latin typeface="Calibri" panose="020F0502020204030204" pitchFamily="34" charset="0"/>
                <a:cs typeface="Calibri" panose="020F0502020204030204" pitchFamily="34" charset="0"/>
              </a:rPr>
              <a:t>GridSearch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 cross-validation: an internal cross-validation technique is used to calculate the score for each combination of parameters on the grid. “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Parameters Tuned</a:t>
            </a:r>
          </a:p>
          <a:p>
            <a:pPr>
              <a:lnSpc>
                <a:spcPct val="90000"/>
              </a:lnSpc>
            </a:pPr>
            <a:r>
              <a:rPr lang="en-US" sz="1500" dirty="0" err="1">
                <a:latin typeface="Calibri" panose="020F0502020204030204" pitchFamily="34" charset="0"/>
                <a:cs typeface="Calibri" panose="020F0502020204030204" pitchFamily="34" charset="0"/>
              </a:rPr>
              <a:t>n_estimators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 (number of trees)</a:t>
            </a:r>
          </a:p>
          <a:p>
            <a:pPr>
              <a:lnSpc>
                <a:spcPct val="90000"/>
              </a:lnSpc>
            </a:pPr>
            <a:r>
              <a:rPr lang="en-US" sz="1500" dirty="0" err="1">
                <a:latin typeface="Calibri" panose="020F0502020204030204" pitchFamily="34" charset="0"/>
                <a:cs typeface="Calibri" panose="020F0502020204030204" pitchFamily="34" charset="0"/>
              </a:rPr>
              <a:t>max_depth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 (tree depth)</a:t>
            </a:r>
          </a:p>
          <a:p>
            <a:pPr>
              <a:lnSpc>
                <a:spcPct val="90000"/>
              </a:lnSpc>
            </a:pPr>
            <a:r>
              <a:rPr lang="en-US" sz="1500" dirty="0" err="1">
                <a:latin typeface="Calibri" panose="020F0502020204030204" pitchFamily="34" charset="0"/>
                <a:cs typeface="Calibri" panose="020F0502020204030204" pitchFamily="34" charset="0"/>
              </a:rPr>
              <a:t>min_samples_split</a:t>
            </a: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500" dirty="0" err="1">
                <a:latin typeface="Calibri" panose="020F0502020204030204" pitchFamily="34" charset="0"/>
                <a:cs typeface="Calibri" panose="020F0502020204030204" pitchFamily="34" charset="0"/>
              </a:rPr>
              <a:t>min_samples_leaf</a:t>
            </a:r>
            <a:br>
              <a:rPr lang="en-US" sz="1100" dirty="0"/>
            </a:br>
            <a:endParaRPr lang="en-US" sz="1100" dirty="0"/>
          </a:p>
          <a:p>
            <a:pPr marL="0" indent="0">
              <a:lnSpc>
                <a:spcPct val="90000"/>
              </a:lnSpc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Accuracy: 0.686</a:t>
            </a:r>
            <a:endParaRPr lang="en-US" sz="11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1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238950-CA9E-B77E-190A-7CDBD8DCB288}"/>
              </a:ext>
            </a:extLst>
          </p:cNvPr>
          <p:cNvSpPr/>
          <p:nvPr/>
        </p:nvSpPr>
        <p:spPr>
          <a:xfrm>
            <a:off x="4273353" y="4607471"/>
            <a:ext cx="2880360" cy="20459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Outcome</a:t>
            </a:r>
          </a:p>
          <a:p>
            <a:pPr algn="ctr"/>
            <a:endParaRPr lang="en-US" sz="15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Tuned model improves accuracy by 3–7%.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Provides better generalization.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Reduces overfitting risk by constraining tree complexity.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1BBAD1-FCB0-DD55-C6DF-575BD1DD29C8}"/>
              </a:ext>
            </a:extLst>
          </p:cNvPr>
          <p:cNvSpPr/>
          <p:nvPr/>
        </p:nvSpPr>
        <p:spPr>
          <a:xfrm>
            <a:off x="1010234" y="4607471"/>
            <a:ext cx="2880360" cy="20459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15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Process</a:t>
            </a:r>
          </a:p>
          <a:p>
            <a:pPr algn="ctr">
              <a:lnSpc>
                <a:spcPct val="90000"/>
              </a:lnSpc>
            </a:pPr>
            <a:endParaRPr lang="en-US" sz="15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Grid search across parameter combinations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5-fold cross-validation for each combination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Select best configuration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Retrain on full training data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Evaluate on held-out test set</a:t>
            </a:r>
          </a:p>
          <a:p>
            <a:pPr algn="ctr"/>
            <a:endParaRPr lang="en-US" dirty="0"/>
          </a:p>
        </p:txBody>
      </p:sp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9ADA1CA-C33D-18E8-854A-FF2257322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564" y="1813560"/>
            <a:ext cx="4500245" cy="1584919"/>
          </a:xfrm>
          <a:prstGeom prst="rect">
            <a:avLst/>
          </a:prstGeom>
        </p:spPr>
      </p:pic>
      <p:pic>
        <p:nvPicPr>
          <p:cNvPr id="11" name="Picture 10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7B04DF9C-9319-8D8B-FAFD-8374699AF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739" y="3481177"/>
            <a:ext cx="6887526" cy="966563"/>
          </a:xfrm>
          <a:prstGeom prst="rect">
            <a:avLst/>
          </a:prstGeom>
        </p:spPr>
      </p:pic>
      <p:pic>
        <p:nvPicPr>
          <p:cNvPr id="12290" name="Picture 2">
            <a:extLst>
              <a:ext uri="{FF2B5EF4-FFF2-40B4-BE49-F238E27FC236}">
                <a16:creationId xmlns:a16="http://schemas.microsoft.com/office/drawing/2014/main" id="{02FDC08B-A201-0844-484D-BD47427DE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4878" y="4253141"/>
            <a:ext cx="288036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2128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1AAB09-2123-13AA-CBC2-598FAE41B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9BFE4-0060-17D2-ED38-9892FAF89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236" y="506730"/>
            <a:ext cx="10956974" cy="83058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Interpretation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C1E2B-35DE-2D30-51D2-9B67D5A64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235" y="1440180"/>
            <a:ext cx="10956975" cy="541782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Key Findings</a:t>
            </a:r>
          </a:p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Alcohol is the strongest positive predictor -&gt; better taste, balance.</a:t>
            </a:r>
          </a:p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Volatile acidity reduces quality -&gt; linked with spoilage traits.</a:t>
            </a:r>
          </a:p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Sulphates and citric acid moderately improve stability and acidity balance.</a:t>
            </a:r>
          </a:p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The dataset allows strong prediction despite class imbalance.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Literature Alignment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Findings consistent with Cortez et al. (2009)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 Supports Zhang et al. (2020) alcohol findings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Confirms Dahal et al. (2021) volatile acidity results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Validates use of ML for physicochemical quality prediction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Research Implications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The Random Forest model successfully approximates sensory wine quality using only physicochemical measurements, demonstrating that ML can approximate human sensory evaluation with appropriate chemical data. </a:t>
            </a:r>
          </a:p>
          <a:p>
            <a:pPr marL="0" indent="0">
              <a:buNone/>
            </a:pP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Overall Interpretation </a:t>
            </a: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Random Forest captures the chemical interactions effectively, providing both accuracy and interpretability.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100" dirty="0"/>
          </a:p>
          <a:p>
            <a:pPr marL="0" indent="0">
              <a:lnSpc>
                <a:spcPct val="90000"/>
              </a:lnSpc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09004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8E30F-00FF-FD01-2656-1DB452F48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2" y="563880"/>
            <a:ext cx="10290808" cy="80772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Summary and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397C5-03C1-78B2-46C4-6159A2789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600200"/>
            <a:ext cx="10778490" cy="478917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Conducted full EDA on 1,143-sample wine dataset.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Identified key features influencing quality.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Built and compared ML models.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Random Forest produced best balance of accuracy and interpretability.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Hyperparameter tuning improved results significantly.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Conclusions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Physicochemical data can effectively approximate sensory wine quality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Random Forest provides robust, interpretable predictions for wine classification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Feature importance reveals actionable chemical insights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ML approach supports and extends existing wine quality research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Research Impact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This study demonstrates that machine learning can reliably predict wine quality using only physicochemical measurements, providing wineries with a data-driven approach for quality assessment and production optimization.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75371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2AF29-91F8-896F-C6B9-FD2FA287C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130" y="369570"/>
            <a:ext cx="10458450" cy="88773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BA26B-A256-6AAE-6105-D871D4551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0130" y="1257300"/>
            <a:ext cx="10561320" cy="500634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Zhang,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Shuhao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&amp; Shao, Caixing &amp; Xiao, Wei. (2020). Research on Red Wine Quality Based on Data Visualization. 128–132.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Link:https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://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www.researchgate.net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/publication/342823104_Research_on_Red_Wine_Quality_Based_on_Data_Visualization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Natalie Harris, Claudia Gonzalez Viejo, Christopher Barnes, Alexis Pang, Sigfredo Fuentes, Wine quality assessment for Shiraz vertical vintages based on digital technologies and machine learning modeling., Food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Bioscience,Volume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56, 2023, 103354, Link 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https://www.sciencedirect.com/science/article/pii/S2212429223010052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Paulo Cortez, António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Cerdeira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Fernando Almeida, Telmo Matos, José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Reis,Modeling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wine preferences by data mining from physicochemical properties, Decision Support Systems, Volume 47, Issue 4, 2009, Pages 547-553, 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Link : https://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www.sciencedirect.com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/science/article/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pii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/S0167923609001377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Dahal, Keshab &amp; Dahal,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Jiba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Banjade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Huta &amp;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Gaire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Santosh. (2021). Prediction of Wine Quality Using Machine Learning Algorithms. Open Journal of Statistics. 11. 278-289.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Link:https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://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www.researchgate.net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/publication/350110244_Prediction_of_Wine_Quality_Using_Machine_Learning_Algorithms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Kumar, Sunny &amp; Agrawal, Kanika &amp; Mandan,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Nelshan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(2020). Red Wine Quality Prediction Using Machine Learning Techniques. 1-6.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Link:https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://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www.researchgate.net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/publication/341812162_Red_Wine_Quality_Prediction_Using_Machine_Learning_Techniques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Kaggle (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Yasserh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). (2025). Wine Quality Dataset. Available at https://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www.kaggle.com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/datasets/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yasserh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/wine-quality-dataset.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675498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1180</TotalTime>
  <Words>1646</Words>
  <Application>Microsoft Macintosh PowerPoint</Application>
  <PresentationFormat>Widescreen</PresentationFormat>
  <Paragraphs>193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Franklin Gothic Book</vt:lpstr>
      <vt:lpstr>Wingdings</vt:lpstr>
      <vt:lpstr>Crop</vt:lpstr>
      <vt:lpstr>Data Visualization and Analysis of Wine Quality Factors</vt:lpstr>
      <vt:lpstr>Research Question</vt:lpstr>
      <vt:lpstr>Background and Literature Review</vt:lpstr>
      <vt:lpstr>Dataset Overview</vt:lpstr>
      <vt:lpstr>Ethical Considerations</vt:lpstr>
      <vt:lpstr>Exploratory Data Analysis (EDA)</vt:lpstr>
      <vt:lpstr>Exploratory Data Analysis (EDA)</vt:lpstr>
      <vt:lpstr>Dataset Pre-processing</vt:lpstr>
      <vt:lpstr>Model Used: Random Forest</vt:lpstr>
      <vt:lpstr>Model Results</vt:lpstr>
      <vt:lpstr>Hyperparameter Tuning</vt:lpstr>
      <vt:lpstr>Interpretation &amp; Analysis</vt:lpstr>
      <vt:lpstr>Summary and Conclusions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Yeshwanth Kalappadevar Manohar</dc:creator>
  <cp:lastModifiedBy>Yeshwanth Kalappadevar Manohar</cp:lastModifiedBy>
  <cp:revision>5</cp:revision>
  <dcterms:created xsi:type="dcterms:W3CDTF">2025-11-23T12:29:54Z</dcterms:created>
  <dcterms:modified xsi:type="dcterms:W3CDTF">2025-11-24T08:10:48Z</dcterms:modified>
</cp:coreProperties>
</file>